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202" y="20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6522B0-0968-400E-A2A0-F2CC4434D3D5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E10948-61FB-415F-ABF0-429A772C8F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9202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7315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0"/>
            <a:ext cx="1645920" cy="1371600"/>
          </a:xfrm>
          <a:prstGeom prst="rect">
            <a:avLst/>
          </a:prstGeom>
          <a:solidFill>
            <a:srgbClr val="0A1A10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43800" y="109728"/>
            <a:ext cx="1371600" cy="3840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543800" y="1097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INTERNSHIP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7543800" y="594360"/>
            <a:ext cx="13716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543800" y="5943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#13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" y="0"/>
            <a:ext cx="109728" cy="5143500"/>
          </a:xfrm>
          <a:prstGeom prst="rect">
            <a:avLst/>
          </a:prstGeom>
          <a:solidFill>
            <a:srgbClr val="00F5A0">
              <a:alpha val="20000"/>
            </a:srgbClr>
          </a:solidFill>
          <a:ln w="12700">
            <a:solidFill>
              <a:srgbClr val="00F5A0">
                <a:alpha val="2000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48640"/>
            <a:ext cx="1097280" cy="1097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56032" y="150876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8800" dirty="0"/>
          </a:p>
        </p:txBody>
      </p:sp>
      <p:sp>
        <p:nvSpPr>
          <p:cNvPr id="12" name="Text 9"/>
          <p:cNvSpPr/>
          <p:nvPr/>
        </p:nvSpPr>
        <p:spPr>
          <a:xfrm>
            <a:off x="256032" y="2377440"/>
            <a:ext cx="640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</a:t>
            </a:r>
            <a:endParaRPr lang="en-US" sz="8800" dirty="0"/>
          </a:p>
        </p:txBody>
      </p:sp>
      <p:sp>
        <p:nvSpPr>
          <p:cNvPr id="13" name="Shape 10"/>
          <p:cNvSpPr/>
          <p:nvPr/>
        </p:nvSpPr>
        <p:spPr>
          <a:xfrm>
            <a:off x="256032" y="3456432"/>
            <a:ext cx="5029200" cy="45720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6032" y="3502152"/>
            <a:ext cx="5029200" cy="45720"/>
          </a:xfrm>
          <a:prstGeom prst="rect">
            <a:avLst/>
          </a:prstGeom>
          <a:solidFill>
            <a:srgbClr val="00F5A0">
              <a:alpha val="40000"/>
            </a:srgbClr>
          </a:solidFill>
          <a:ln w="12700">
            <a:solidFill>
              <a:srgbClr val="00F5A0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56032" y="361188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Personal Fitness Coach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256032" y="40050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LangFlow + IBM watsonx.ai + IBM Granite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56032" y="431596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 Foundation | IBM 4-Week Internship | Problem Statement #13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56032" y="4818888"/>
            <a:ext cx="45720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Janardan Kaki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572000" y="481888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Fitness with Conversational AI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PROFILE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" y="1069848"/>
            <a:ext cx="5084064" cy="352958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97280"/>
            <a:ext cx="5029200" cy="347472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97280"/>
            <a:ext cx="5029200" cy="54864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25880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Name: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1325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Janardan Kaki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46634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07568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ID: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07568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janardankaki1125@gmail.com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32888"/>
            <a:ext cx="46634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25496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825496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Fitness /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282696"/>
            <a:ext cx="4663440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575304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011680" y="3575304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 – AI Fitness Coach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550408" y="1069848"/>
            <a:ext cx="3346704" cy="3529584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1097280"/>
            <a:ext cx="3291840" cy="3474720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1097280"/>
            <a:ext cx="329184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371600"/>
            <a:ext cx="1645920" cy="16459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5623560" y="306324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BUDDY</a:t>
            </a:r>
            <a:endParaRPr lang="en-US" sz="2600" dirty="0"/>
          </a:p>
        </p:txBody>
      </p:sp>
      <p:sp>
        <p:nvSpPr>
          <p:cNvPr id="24" name="Text 21"/>
          <p:cNvSpPr/>
          <p:nvPr/>
        </p:nvSpPr>
        <p:spPr>
          <a:xfrm>
            <a:off x="5623560" y="400507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217920" y="4315968"/>
            <a:ext cx="182880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17920" y="4315968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#13</a:t>
            </a:r>
            <a:endParaRPr lang="en-US" sz="1800" dirty="0"/>
          </a:p>
        </p:txBody>
      </p:sp>
      <p:sp>
        <p:nvSpPr>
          <p:cNvPr id="27" name="Shape 2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535"/>
          </a:solidFill>
          <a:ln w="12700">
            <a:solidFill>
              <a:srgbClr val="1E3A5F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4818888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658368" y="4800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github.com/janardankaki1125/Fitness-Buddy-/tree/main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#13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4023360" cy="438912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24128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THE CHALLENGE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46888" y="1435608"/>
            <a:ext cx="4078224" cy="3529584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463040"/>
            <a:ext cx="4023360" cy="3474720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today's fast-paced world, many individuals struggle to maintain a healthy lifestyle due to: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164592" cy="164592"/>
          </a:xfrm>
          <a:prstGeom prst="ellipse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21284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personalized fitness guidance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770632"/>
            <a:ext cx="164592" cy="164592"/>
          </a:xfrm>
          <a:prstGeom prst="ellipse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1576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constraints and busy schedules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273552"/>
            <a:ext cx="164592" cy="164592"/>
          </a:xfrm>
          <a:prstGeom prst="ellipse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21868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motivation and habit building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776472"/>
            <a:ext cx="164592" cy="164592"/>
          </a:xfrm>
          <a:prstGeom prst="ellipse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2160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gym memberships &amp; rigid plans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79392"/>
            <a:ext cx="164592" cy="164592"/>
          </a:xfrm>
          <a:prstGeom prst="ellipse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224528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accessible, 24/7 fitness assistant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0" y="1024128"/>
            <a:ext cx="4297680" cy="43891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1024128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THE OBJECTIVE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44568" y="1435608"/>
            <a:ext cx="4352544" cy="352958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1463040"/>
            <a:ext cx="4297680" cy="347472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0" y="15544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Fitness Buddy — an AI conversational fitness coach that:</a:t>
            </a:r>
            <a:endParaRPr lang="en-US" sz="1050" dirty="0"/>
          </a:p>
        </p:txBody>
      </p:sp>
      <p:pic>
        <p:nvPicPr>
          <p:cNvPr id="2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286000"/>
            <a:ext cx="201168" cy="201168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5047488" y="223113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home workouts based on user input</a:t>
            </a:r>
            <a:endParaRPr lang="en-US" sz="1050" dirty="0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88920"/>
            <a:ext cx="201168" cy="20116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047488" y="273405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motivational tips and daily inspiration</a:t>
            </a:r>
            <a:endParaRPr lang="en-US" sz="10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291840"/>
            <a:ext cx="201168" cy="20116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5047488" y="323697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nutritious meal ideas</a:t>
            </a:r>
            <a:endParaRPr lang="en-US" sz="1050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3794760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047488" y="37398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habit-building and consistency</a:t>
            </a:r>
            <a:endParaRPr lang="en-US" sz="1050" dirty="0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4297680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5047488" y="424281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user preferences using Memory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" y="996696"/>
            <a:ext cx="2843784" cy="183794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24128"/>
            <a:ext cx="2788920" cy="178308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24128"/>
            <a:ext cx="2788920" cy="5029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78408" y="1188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38328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workflow builder to design and orchestrate the Fitness Buddy chatbot pipeline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18104" y="996696"/>
            <a:ext cx="2843784" cy="1837944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45536" y="1024128"/>
            <a:ext cx="2788920" cy="1783080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45536" y="1024128"/>
            <a:ext cx="2788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20700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22776" y="1188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282696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enterprise AI platform for model deployment, scaling and AI governance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62472" y="996696"/>
            <a:ext cx="2843784" cy="1837944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1024128"/>
            <a:ext cx="2788920" cy="1783080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1024128"/>
            <a:ext cx="278892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20700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67144" y="1188720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227064" y="182880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ibm/granite-8b-code-instruct model via IBM watsonx.ai — mandatory IBM AI model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173736" y="2990088"/>
            <a:ext cx="2843784" cy="1837944"/>
          </a:xfrm>
          <a:prstGeom prst="rect">
            <a:avLst/>
          </a:prstGeom>
          <a:solidFill>
            <a:srgbClr val="BF5AF2">
              <a:alpha val="15000"/>
            </a:srgbClr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01168" y="3017520"/>
            <a:ext cx="2788920" cy="1783080"/>
          </a:xfrm>
          <a:prstGeom prst="rect">
            <a:avLst/>
          </a:prstGeom>
          <a:solidFill>
            <a:srgbClr val="111827"/>
          </a:solidFill>
          <a:ln w="3810">
            <a:solidFill>
              <a:srgbClr val="BF5A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01168" y="3017520"/>
            <a:ext cx="2788920" cy="5029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0040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78408" y="31821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338328" y="382219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Memory component for conversation history and personalized responses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18104" y="2990088"/>
            <a:ext cx="2843784" cy="1837944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145536" y="3017520"/>
            <a:ext cx="2788920" cy="1783080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145536" y="3017520"/>
            <a:ext cx="2788920" cy="50292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20040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922776" y="31821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3282696" y="382219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prompt engineering to guide AI responses for fitness coaching behavior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062472" y="2990088"/>
            <a:ext cx="2843784" cy="1837944"/>
          </a:xfrm>
          <a:prstGeom prst="rect">
            <a:avLst/>
          </a:prstGeom>
          <a:solidFill>
            <a:srgbClr val="FFD60A">
              <a:alpha val="15000"/>
            </a:srgbClr>
          </a:solidFill>
          <a:ln w="6350">
            <a:solidFill>
              <a:srgbClr val="FFD60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089904" y="3017520"/>
            <a:ext cx="2788920" cy="1783080"/>
          </a:xfrm>
          <a:prstGeom prst="rect">
            <a:avLst/>
          </a:prstGeom>
          <a:solidFill>
            <a:srgbClr val="111827"/>
          </a:solidFill>
          <a:ln w="3810">
            <a:solidFill>
              <a:srgbClr val="FFD60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089904" y="3017520"/>
            <a:ext cx="2788920" cy="5029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200400"/>
            <a:ext cx="502920" cy="5029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67144" y="3182112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6227064" y="382219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Lite plan infrastructure hosting watsonx.ai Runtime (Sydney region)</a:t>
            </a:r>
            <a:endParaRPr lang="en-US" sz="950" dirty="0"/>
          </a:p>
        </p:txBody>
      </p:sp>
      <p:sp>
        <p:nvSpPr>
          <p:cNvPr id="41" name="Shape 33"/>
          <p:cNvSpPr/>
          <p:nvPr/>
        </p:nvSpPr>
        <p:spPr>
          <a:xfrm>
            <a:off x="1371600" y="4773168"/>
            <a:ext cx="6400800" cy="347472"/>
          </a:xfrm>
          <a:prstGeom prst="rect">
            <a:avLst/>
          </a:prstGeom>
          <a:solidFill>
            <a:srgbClr val="1A2535"/>
          </a:solidFill>
          <a:ln w="6350">
            <a:solidFill>
              <a:srgbClr val="00F5A0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8760" y="4828032"/>
            <a:ext cx="237744" cy="23774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828800" y="479145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Used: LangFlow + IBM watsonx.ai + IBM Granite Models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" y="978408"/>
            <a:ext cx="8650224" cy="713232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 is an AI-powered conversational fitness coach built using LangFlow and IBM watsonx.ai. It provides personalized home workout routines, healthy meal suggestions, daily motivation, and habit-building guidance through an intelligent chat interface — available 24/7, completely free.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" y="1801368"/>
            <a:ext cx="2112264" cy="320954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" y="1828800"/>
            <a:ext cx="2057400" cy="315468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" y="1828800"/>
            <a:ext cx="2057400" cy="5029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993392"/>
            <a:ext cx="914400" cy="914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01168" y="2999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Workout Plans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292608" y="3401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home workout routines based on fitness level and goals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386584" y="1801368"/>
            <a:ext cx="2112264" cy="3209544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14016" y="1828800"/>
            <a:ext cx="2057400" cy="3154680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414016" y="1828800"/>
            <a:ext cx="205740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0944" y="1993392"/>
            <a:ext cx="914400" cy="9144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414016" y="2999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Meal Guidance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505456" y="3401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meal ideas and nutrition suggestions for weight management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599432" y="1801368"/>
            <a:ext cx="2112264" cy="3209544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626864" y="1828800"/>
            <a:ext cx="2057400" cy="3154680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626864" y="1828800"/>
            <a:ext cx="2057400" cy="50292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3792" y="1993392"/>
            <a:ext cx="914400" cy="91440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626864" y="2999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37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4718304" y="3401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fitness inspiration and motivational tips to stay consistent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6812280" y="1801368"/>
            <a:ext cx="2112264" cy="3209544"/>
          </a:xfrm>
          <a:prstGeom prst="rect">
            <a:avLst/>
          </a:prstGeom>
          <a:solidFill>
            <a:srgbClr val="BF5AF2">
              <a:alpha val="15000"/>
            </a:srgbClr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39712" y="1828800"/>
            <a:ext cx="2057400" cy="3154680"/>
          </a:xfrm>
          <a:prstGeom prst="rect">
            <a:avLst/>
          </a:prstGeom>
          <a:solidFill>
            <a:srgbClr val="111827"/>
          </a:solidFill>
          <a:ln w="3810">
            <a:solidFill>
              <a:srgbClr val="BF5AF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839712" y="1828800"/>
            <a:ext cx="2057400" cy="5029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1993392"/>
            <a:ext cx="914400" cy="9144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839712" y="299923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6931152" y="340156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Remembers user name, goals and preferences across the conversation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COMPONENTS USED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" y="960120"/>
            <a:ext cx="8650224" cy="713232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87552"/>
            <a:ext cx="594360" cy="658368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0332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Input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05840" y="133502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where users enter fitness queries, goals, and preferences through natural language conversation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" y="1755648"/>
            <a:ext cx="8650224" cy="713232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83080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783080"/>
            <a:ext cx="594360" cy="658368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783080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05840" y="1828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130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prompt engineering that instructs IBM Granite to behave as a fitness coach with specific rules and format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" y="2551176"/>
            <a:ext cx="8650224" cy="713232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578608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578608"/>
            <a:ext cx="594360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578608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005840" y="26243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watsonx.ai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05840" y="29260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IBM's AI model component using ibm/granite-8b-code-instruct to generate personalized fitness plans and advice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" y="3346704"/>
            <a:ext cx="8650224" cy="713232"/>
          </a:xfrm>
          <a:prstGeom prst="rect">
            <a:avLst/>
          </a:prstGeom>
          <a:solidFill>
            <a:srgbClr val="BF5AF2">
              <a:alpha val="15000"/>
            </a:srgbClr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3374136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BF5A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3374136"/>
            <a:ext cx="594360" cy="658368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3374136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005840" y="34198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372160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component that stores conversation history so Fitness Buddy remembers user name, goals and context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46888" y="4142232"/>
            <a:ext cx="8650224" cy="713232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4169664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4169664"/>
            <a:ext cx="594360" cy="65836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4169664"/>
            <a:ext cx="594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05840" y="42153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Output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05840" y="451713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AI-generated workout plans, meal suggestions, motivation tips and fitness guidance to the user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55448" y="2304288"/>
            <a:ext cx="1609344" cy="74066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2331720"/>
            <a:ext cx="1554480" cy="68580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2331720"/>
            <a:ext cx="1554480" cy="5029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2331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21408" y="1435608"/>
            <a:ext cx="1746504" cy="740664"/>
          </a:xfrm>
          <a:prstGeom prst="rect">
            <a:avLst/>
          </a:prstGeom>
          <a:solidFill>
            <a:srgbClr val="BF5AF2">
              <a:alpha val="15000"/>
            </a:srgbClr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48840" y="1463040"/>
            <a:ext cx="1691640" cy="685800"/>
          </a:xfrm>
          <a:prstGeom prst="rect">
            <a:avLst/>
          </a:prstGeom>
          <a:solidFill>
            <a:srgbClr val="111827"/>
          </a:solidFill>
          <a:ln w="3810">
            <a:solidFill>
              <a:srgbClr val="BF5A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48840" y="1463040"/>
            <a:ext cx="1691640" cy="5029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46304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21408" y="3172968"/>
            <a:ext cx="1746504" cy="740664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48840" y="3200400"/>
            <a:ext cx="1691640" cy="685800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48840" y="3200400"/>
            <a:ext cx="1691640" cy="50292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320040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270248" y="2304288"/>
            <a:ext cx="1746504" cy="740664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297680" y="2331720"/>
            <a:ext cx="1691640" cy="685800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2331720"/>
            <a:ext cx="169164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3317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64808" y="2304288"/>
            <a:ext cx="1746504" cy="740664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92240" y="2331720"/>
            <a:ext cx="1691640" cy="685800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2331720"/>
            <a:ext cx="169164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33172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737360" y="2670048"/>
            <a:ext cx="411480" cy="4572"/>
          </a:xfrm>
          <a:prstGeom prst="line">
            <a:avLst/>
          </a:prstGeom>
          <a:noFill/>
          <a:ln w="22860">
            <a:solidFill>
              <a:srgbClr val="00F5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0120" y="1801368"/>
            <a:ext cx="4572" cy="530352"/>
          </a:xfrm>
          <a:prstGeom prst="line">
            <a:avLst/>
          </a:prstGeom>
          <a:noFill/>
          <a:ln w="22860">
            <a:solidFill>
              <a:srgbClr val="00F5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1801368"/>
            <a:ext cx="1188720" cy="4572"/>
          </a:xfrm>
          <a:prstGeom prst="line">
            <a:avLst/>
          </a:prstGeom>
          <a:noFill/>
          <a:ln w="22860">
            <a:solidFill>
              <a:srgbClr val="00F5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90088" y="2148840"/>
            <a:ext cx="4572" cy="1051560"/>
          </a:xfrm>
          <a:prstGeom prst="line">
            <a:avLst/>
          </a:prstGeom>
          <a:noFill/>
          <a:ln w="22860">
            <a:solidFill>
              <a:srgbClr val="BF5A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990088" y="3200400"/>
            <a:ext cx="868680" cy="4572"/>
          </a:xfrm>
          <a:prstGeom prst="line">
            <a:avLst/>
          </a:prstGeom>
          <a:noFill/>
          <a:ln w="22860">
            <a:solidFill>
              <a:srgbClr val="BF5A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840480" y="3538728"/>
            <a:ext cx="475488" cy="4572"/>
          </a:xfrm>
          <a:prstGeom prst="line">
            <a:avLst/>
          </a:prstGeom>
          <a:noFill/>
          <a:ln w="22860">
            <a:solidFill>
              <a:srgbClr val="FF37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79392" y="2670048"/>
            <a:ext cx="45720" cy="868680"/>
          </a:xfrm>
          <a:prstGeom prst="line">
            <a:avLst/>
          </a:prstGeom>
          <a:noFill/>
          <a:ln w="22860">
            <a:solidFill>
              <a:srgbClr val="FF375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89320" y="2670048"/>
            <a:ext cx="502920" cy="4572"/>
          </a:xfrm>
          <a:prstGeom prst="line">
            <a:avLst/>
          </a:prstGeom>
          <a:noFill/>
          <a:ln w="22860">
            <a:solidFill>
              <a:srgbClr val="00D4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4224528"/>
            <a:ext cx="8595360" cy="347472"/>
          </a:xfrm>
          <a:prstGeom prst="rect">
            <a:avLst/>
          </a:prstGeom>
          <a:solidFill>
            <a:srgbClr val="1A2535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422452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Canvas: Chat Input → Message History → Prompt Template → IBM watsonx.ai (Granite) → Chat Output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320" y="4752246"/>
            <a:ext cx="8595360" cy="38404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58952"/>
            <a:ext cx="9144000" cy="34133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BLUEPRINT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" y="1005840"/>
            <a:ext cx="1645920" cy="1371600"/>
          </a:xfrm>
          <a:prstGeom prst="rect">
            <a:avLst/>
          </a:prstGeom>
          <a:solidFill>
            <a:srgbClr val="1A2535"/>
          </a:solidFill>
          <a:ln w="6350">
            <a:solidFill>
              <a:srgbClr val="8E9BAE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4592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64592" y="1600200"/>
            <a:ext cx="16459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" y="1627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Playground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1810512" y="1691640"/>
            <a:ext cx="164592" cy="0"/>
          </a:xfrm>
          <a:prstGeom prst="line">
            <a:avLst/>
          </a:prstGeom>
          <a:noFill/>
          <a:ln w="19050">
            <a:solidFill>
              <a:srgbClr val="8E9B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56816" y="1005840"/>
            <a:ext cx="1645920" cy="1371600"/>
          </a:xfrm>
          <a:prstGeom prst="rect">
            <a:avLst/>
          </a:prstGeom>
          <a:solidFill>
            <a:srgbClr val="00F5A0"/>
          </a:solidFill>
          <a:ln w="6350">
            <a:solidFill>
              <a:srgbClr val="00F5A0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956816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INPUT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956816" y="1600200"/>
            <a:ext cx="16459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56816" y="1627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Component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02736" y="1691640"/>
            <a:ext cx="164592" cy="0"/>
          </a:xfrm>
          <a:prstGeom prst="line">
            <a:avLst/>
          </a:prstGeom>
          <a:noFill/>
          <a:ln w="19050">
            <a:solidFill>
              <a:srgbClr val="8E9BA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005840"/>
            <a:ext cx="1645920" cy="1371600"/>
          </a:xfrm>
          <a:prstGeom prst="rect">
            <a:avLst/>
          </a:prstGeom>
          <a:solidFill>
            <a:srgbClr val="BF5AF2"/>
          </a:solidFill>
          <a:ln w="6350">
            <a:solidFill>
              <a:srgbClr val="BF5AF2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1600200"/>
            <a:ext cx="16459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1627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LangFlow Component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394960" y="1691640"/>
            <a:ext cx="164592" cy="0"/>
          </a:xfrm>
          <a:prstGeom prst="line">
            <a:avLst/>
          </a:prstGeom>
          <a:noFill/>
          <a:ln w="19050">
            <a:solidFill>
              <a:srgbClr val="8E9B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41264" y="1005840"/>
            <a:ext cx="1645920" cy="1371600"/>
          </a:xfrm>
          <a:prstGeom prst="rect">
            <a:avLst/>
          </a:prstGeom>
          <a:solidFill>
            <a:srgbClr val="FF375F"/>
          </a:solidFill>
          <a:ln w="6350">
            <a:solidFill>
              <a:srgbClr val="FF375F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541264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41264" y="1600200"/>
            <a:ext cx="16459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41264" y="1627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Prompt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187184" y="1691640"/>
            <a:ext cx="164592" cy="0"/>
          </a:xfrm>
          <a:prstGeom prst="line">
            <a:avLst/>
          </a:prstGeom>
          <a:noFill/>
          <a:ln w="19050">
            <a:solidFill>
              <a:srgbClr val="8E9B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33488" y="1005840"/>
            <a:ext cx="1645920" cy="1371600"/>
          </a:xfrm>
          <a:prstGeom prst="rect">
            <a:avLst/>
          </a:prstGeom>
          <a:solidFill>
            <a:srgbClr val="00D4FF"/>
          </a:solidFill>
          <a:ln w="6350">
            <a:solidFill>
              <a:srgbClr val="00D4FF"/>
            </a:solidFill>
            <a:prstDash val="solid"/>
          </a:ln>
          <a:effectLst>
            <a:outerShdw blurRad="254000" dist="38100" dir="8100000" algn="bl" rotWithShape="0">
              <a:srgbClr val="000000">
                <a:alpha val="6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333488" y="100584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33488" y="1600200"/>
            <a:ext cx="1645920" cy="0"/>
          </a:xfrm>
          <a:prstGeom prst="line">
            <a:avLst/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33488" y="1627632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watsonx.ai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granite-8b-instruct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46888" y="2551176"/>
            <a:ext cx="8650224" cy="1106424"/>
          </a:xfrm>
          <a:prstGeom prst="rect">
            <a:avLst/>
          </a:prstGeom>
          <a:solidFill>
            <a:srgbClr val="0F62FE">
              <a:alpha val="15000"/>
            </a:srgbClr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2578608"/>
            <a:ext cx="8595360" cy="1051560"/>
          </a:xfrm>
          <a:prstGeom prst="rect">
            <a:avLst/>
          </a:prstGeom>
          <a:solidFill>
            <a:srgbClr val="111827"/>
          </a:solidFill>
          <a:ln w="3810">
            <a:solidFill>
              <a:srgbClr val="0F62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" y="2578608"/>
            <a:ext cx="8595360" cy="502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2596896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 IBM CLOUD INFRASTRUCTURE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Cloud Lite Account  •  watsonx.ai Studio  •  watsonx.ai Runtime (Sydney au-syd)  •  API Key Authentication  •  Project ID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solidFill>
            <a:srgbClr val="1A2535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79476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📤  Chat Output  →  AI Response sent back to user  →  Fitness plans, meal ideas, motivation displayed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solidFill>
            <a:srgbClr val="111827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4462272"/>
            <a:ext cx="8595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Add architecture diagram or LangFlow screenshot here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DEMO — OUTPUT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" y="978408"/>
            <a:ext cx="2871216" cy="330098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2816352" cy="324612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2816352" cy="5029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1168" y="1280160"/>
            <a:ext cx="2816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1168" y="4251960"/>
            <a:ext cx="2816352" cy="384048"/>
          </a:xfrm>
          <a:prstGeom prst="rect">
            <a:avLst/>
          </a:prstGeom>
          <a:solidFill>
            <a:srgbClr val="00F5A0">
              <a:alpha val="80000"/>
            </a:srgbClr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" y="42519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💪  Workout Plan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154680" y="978408"/>
            <a:ext cx="2871216" cy="3300984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82112" y="1005840"/>
            <a:ext cx="2816352" cy="3246120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82112" y="1005840"/>
            <a:ext cx="2816352" cy="50292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82112" y="1280160"/>
            <a:ext cx="2816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82112" y="4251960"/>
            <a:ext cx="2816352" cy="384048"/>
          </a:xfrm>
          <a:prstGeom prst="rect">
            <a:avLst/>
          </a:prstGeom>
          <a:solidFill>
            <a:srgbClr val="FF375F">
              <a:alpha val="80000"/>
            </a:srgbClr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82112" y="42519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Motivation Response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35624" y="978408"/>
            <a:ext cx="2871216" cy="3300984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63056" y="1005840"/>
            <a:ext cx="2816352" cy="3246120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63056" y="1005840"/>
            <a:ext cx="2816352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3056" y="1280160"/>
            <a:ext cx="281635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163056" y="4251960"/>
            <a:ext cx="2816352" cy="384048"/>
          </a:xfrm>
          <a:prstGeom prst="rect">
            <a:avLst/>
          </a:prstGeom>
          <a:solidFill>
            <a:srgbClr val="00D4FF">
              <a:alpha val="8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4251960"/>
            <a:ext cx="2816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Daily Fitness Routine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screenshots from LangFlow Playground showing Fitness Buddy in action</a:t>
            </a:r>
            <a:endParaRPr lang="en-US" sz="1000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111" y="955548"/>
            <a:ext cx="2835851" cy="3300984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168" y="1005840"/>
            <a:ext cx="2843784" cy="324612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056" y="978408"/>
            <a:ext cx="2816352" cy="327355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OF AGENTIC AI IN FITNESS BUDDY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46888" y="960120"/>
            <a:ext cx="8650224" cy="713232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52144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10424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Understanding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114800" y="1078992"/>
            <a:ext cx="0" cy="5029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51960" y="106070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Granite model understands user intent, fitness goals, and health context to generate meaningful responses rather than generic answers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46888" y="1755648"/>
            <a:ext cx="8650224" cy="713232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1783080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94767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87552" y="18379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Personalization Engine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114800" y="1874520"/>
            <a:ext cx="0" cy="5029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251960" y="185623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 adapts its recommendations based on user-provided fitness level, goals, and preferences for hyper-personalized guidance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246888" y="2551176"/>
            <a:ext cx="8650224" cy="713232"/>
          </a:xfrm>
          <a:prstGeom prst="rect">
            <a:avLst/>
          </a:prstGeom>
          <a:solidFill>
            <a:srgbClr val="BF5AF2">
              <a:alpha val="15000"/>
            </a:srgbClr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74320" y="2578608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BF5AF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7432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87552" y="26334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&amp; Context Awareness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4114800" y="2670048"/>
            <a:ext cx="0" cy="5029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251960" y="26517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History component enables Fitness Buddy to remember user name, goals and conversation context across the entire session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46888" y="3346704"/>
            <a:ext cx="8650224" cy="713232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74320" y="3374136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538728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87552" y="34290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Decision Making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4114800" y="3465576"/>
            <a:ext cx="0" cy="5029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251960" y="344728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autonomously decides what type of response to generate — workout plan, meal advice, or motivation — based on user query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46888" y="4142232"/>
            <a:ext cx="8650224" cy="713232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274320" y="4169664"/>
            <a:ext cx="8595360" cy="658368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" y="4334256"/>
            <a:ext cx="411480" cy="41148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987552" y="42245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Goal-Oriented Behavior</a:t>
            </a:r>
            <a:endParaRPr lang="en-US" sz="1300" dirty="0"/>
          </a:p>
        </p:txBody>
      </p:sp>
      <p:sp>
        <p:nvSpPr>
          <p:cNvPr id="33" name="Shape 26"/>
          <p:cNvSpPr/>
          <p:nvPr/>
        </p:nvSpPr>
        <p:spPr>
          <a:xfrm>
            <a:off x="4114800" y="4261104"/>
            <a:ext cx="0" cy="50292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4251960" y="424281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like a proactive digital fitness coach, always driving users toward their fitness goals with structured plans and encouragement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 &amp; UNIQUENESS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73736" y="978408"/>
            <a:ext cx="2843784" cy="1865376"/>
          </a:xfrm>
          <a:prstGeom prst="rect">
            <a:avLst/>
          </a:prstGeom>
          <a:solidFill>
            <a:srgbClr val="FFD60A">
              <a:alpha val="15000"/>
            </a:srgbClr>
          </a:solidFill>
          <a:ln w="6350">
            <a:solidFill>
              <a:srgbClr val="FFD6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005840"/>
            <a:ext cx="2788920" cy="1810512"/>
          </a:xfrm>
          <a:prstGeom prst="rect">
            <a:avLst/>
          </a:prstGeom>
          <a:solidFill>
            <a:srgbClr val="111827"/>
          </a:solidFill>
          <a:ln w="3810">
            <a:solidFill>
              <a:srgbClr val="FFD6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" y="1005840"/>
            <a:ext cx="2788920" cy="50292"/>
          </a:xfrm>
          <a:prstGeom prst="rect">
            <a:avLst/>
          </a:prstGeom>
          <a:solidFill>
            <a:srgbClr val="FFD60A"/>
          </a:solidFill>
          <a:ln w="12700">
            <a:solidFill>
              <a:srgbClr val="FFD60A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0700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32688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AI Coach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8328" y="181051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static fitness apps, Fitness Buddy uses natural language conversation powered by IBM Granite for dynamic guidance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118104" y="978408"/>
            <a:ext cx="2843784" cy="1865376"/>
          </a:xfrm>
          <a:prstGeom prst="rect">
            <a:avLst/>
          </a:prstGeom>
          <a:solidFill>
            <a:srgbClr val="BF5AF2">
              <a:alpha val="15000"/>
            </a:srgbClr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145536" y="1005840"/>
            <a:ext cx="2788920" cy="1810512"/>
          </a:xfrm>
          <a:prstGeom prst="rect">
            <a:avLst/>
          </a:prstGeom>
          <a:solidFill>
            <a:srgbClr val="111827"/>
          </a:solidFill>
          <a:ln w="3810">
            <a:solidFill>
              <a:srgbClr val="BF5A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45536" y="1005840"/>
            <a:ext cx="2788920" cy="50292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120700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877056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F5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Memory-Enabled Chat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282696" y="181051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conversation memory using LangFlow's Message History — remembers user context throughout the entire session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062472" y="978408"/>
            <a:ext cx="2843784" cy="1865376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089904" y="1005840"/>
            <a:ext cx="2788920" cy="1810512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089904" y="1005840"/>
            <a:ext cx="2788920" cy="50292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4496" y="1207008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21424" y="117043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227064" y="1810512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system prompts make IBM Granite behave specifically as a fitness coach — not a generic AI assistant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173736" y="3008376"/>
            <a:ext cx="2843784" cy="1865376"/>
          </a:xfrm>
          <a:prstGeom prst="rect">
            <a:avLst/>
          </a:prstGeom>
          <a:solidFill>
            <a:srgbClr val="0F62FE">
              <a:alpha val="15000"/>
            </a:srgbClr>
          </a:solidFill>
          <a:ln w="6350">
            <a:solidFill>
              <a:srgbClr val="0F62F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201168" y="3035808"/>
            <a:ext cx="2788920" cy="1810512"/>
          </a:xfrm>
          <a:prstGeom prst="rect">
            <a:avLst/>
          </a:prstGeom>
          <a:solidFill>
            <a:srgbClr val="111827"/>
          </a:solidFill>
          <a:ln w="3810">
            <a:solidFill>
              <a:srgbClr val="0F62F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201168" y="3035808"/>
            <a:ext cx="2788920" cy="5029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236976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32688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6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Enterprise AI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338328" y="3840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IBM watsonx.ai — enterprise-grade AI infrastructure ensuring reliability, governance and scalability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3118104" y="3008376"/>
            <a:ext cx="2843784" cy="1865376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3145536" y="3035808"/>
            <a:ext cx="2788920" cy="1810512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145536" y="3035808"/>
            <a:ext cx="2788920" cy="50292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0128" y="3236976"/>
            <a:ext cx="457200" cy="45720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3877056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Zero-Cost Solution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3282696" y="3840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free using IBM Cloud Lite plan and LangFlow open-source — accessible to everyone without subscriptions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6062472" y="3008376"/>
            <a:ext cx="2843784" cy="1865376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6089904" y="3035808"/>
            <a:ext cx="2788920" cy="1810512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6089904" y="3035808"/>
            <a:ext cx="2788920" cy="5029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236976"/>
            <a:ext cx="457200" cy="45720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21424" y="3200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24/7 Availability</a:t>
            </a:r>
            <a:endParaRPr lang="en-US" sz="1200" dirty="0"/>
          </a:p>
        </p:txBody>
      </p:sp>
      <p:sp>
        <p:nvSpPr>
          <p:cNvPr id="40" name="Text 32"/>
          <p:cNvSpPr/>
          <p:nvPr/>
        </p:nvSpPr>
        <p:spPr>
          <a:xfrm>
            <a:off x="6227064" y="38404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AI fitness coach available anytime — no appointments, no expensive gym memberships required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" y="978408"/>
            <a:ext cx="8650224" cy="110642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8595360" cy="105156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3000"/>
            <a:ext cx="749808" cy="749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07899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github.com/janardankaki1125/Fitness-Buddy-/tree/main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41732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Repository  •  MIT License  •  README included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274320" y="2212848"/>
            <a:ext cx="8595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Uploaded to Repository: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46888" y="2606040"/>
            <a:ext cx="8650224" cy="557784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74320" y="2633472"/>
            <a:ext cx="8595360" cy="502920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265176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Fitness_Buddy.json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154680" y="2670048"/>
            <a:ext cx="0" cy="384048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91840" y="265176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LangFlow workflow export file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46888" y="3200400"/>
            <a:ext cx="8650224" cy="557784"/>
          </a:xfrm>
          <a:prstGeom prst="rect">
            <a:avLst/>
          </a:prstGeom>
          <a:solidFill>
            <a:srgbClr val="FF375F">
              <a:alpha val="15000"/>
            </a:srgbClr>
          </a:solidFill>
          <a:ln w="6350">
            <a:solidFill>
              <a:srgbClr val="FF375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74320" y="3227832"/>
            <a:ext cx="8595360" cy="502920"/>
          </a:xfrm>
          <a:prstGeom prst="rect">
            <a:avLst/>
          </a:prstGeom>
          <a:solidFill>
            <a:srgbClr val="111827"/>
          </a:solidFill>
          <a:ln w="3810">
            <a:solidFill>
              <a:srgbClr val="FF375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324612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Screenshots/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154680" y="3264408"/>
            <a:ext cx="0" cy="384048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291840" y="324612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screenshots of all chatbot responses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246888" y="3794760"/>
            <a:ext cx="8650224" cy="557784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4320" y="3822192"/>
            <a:ext cx="8595360" cy="502920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7200" y="384048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README.md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3154680" y="3858768"/>
            <a:ext cx="0" cy="384048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291840" y="384048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description, setup instructions and flow architecture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6888" y="4389120"/>
            <a:ext cx="8650224" cy="557784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74320" y="4416552"/>
            <a:ext cx="8595360" cy="502920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57200" y="4434840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Presentation.pptx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3154680" y="4453128"/>
            <a:ext cx="0" cy="384048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91840" y="443484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presentation for final submission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877824"/>
            <a:ext cx="91440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" y="960120"/>
            <a:ext cx="8650224" cy="896112"/>
          </a:xfrm>
          <a:prstGeom prst="rect">
            <a:avLst/>
          </a:prstGeom>
          <a:solidFill>
            <a:srgbClr val="00F5A0">
              <a:alpha val="15000"/>
            </a:srgbClr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87552"/>
            <a:ext cx="8595360" cy="841248"/>
          </a:xfrm>
          <a:prstGeom prst="rect">
            <a:avLst/>
          </a:prstGeom>
          <a:solidFill>
            <a:srgbClr val="111827"/>
          </a:solidFill>
          <a:ln w="3810">
            <a:solidFill>
              <a:srgbClr val="00F5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87552"/>
            <a:ext cx="1005840" cy="841248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98755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417320" y="107899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Device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42646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with smartwatches and fitness trackers to collect real-time health data (steps, heart rate, calories burned) and provide dynamic, activity-based fitness recommendations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" y="1965960"/>
            <a:ext cx="8650224" cy="896112"/>
          </a:xfrm>
          <a:prstGeom prst="rect">
            <a:avLst/>
          </a:prstGeom>
          <a:solidFill>
            <a:srgbClr val="00D4FF">
              <a:alpha val="15000"/>
            </a:srgbClr>
          </a:solidFill>
          <a:ln w="6350">
            <a:solidFill>
              <a:srgbClr val="00D4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993392"/>
            <a:ext cx="8595360" cy="841248"/>
          </a:xfrm>
          <a:prstGeom prst="rect">
            <a:avLst/>
          </a:prstGeom>
          <a:solidFill>
            <a:srgbClr val="111827"/>
          </a:solidFill>
          <a:ln w="3810">
            <a:solidFill>
              <a:srgbClr val="00D4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1993392"/>
            <a:ext cx="1005840" cy="84124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199339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417320" y="208483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 &amp; Multilingual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243230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voice interaction and support for multiple languages including Telugu, Hindi and Tamil — making Fitness Buddy accessible to diverse users across India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46888" y="2971800"/>
            <a:ext cx="8650224" cy="896112"/>
          </a:xfrm>
          <a:prstGeom prst="rect">
            <a:avLst/>
          </a:prstGeom>
          <a:solidFill>
            <a:srgbClr val="BF5AF2">
              <a:alpha val="15000"/>
            </a:srgbClr>
          </a:solidFill>
          <a:ln w="6350">
            <a:solidFill>
              <a:srgbClr val="BF5AF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999232"/>
            <a:ext cx="8595360" cy="841248"/>
          </a:xfrm>
          <a:prstGeom prst="rect">
            <a:avLst/>
          </a:prstGeom>
          <a:solidFill>
            <a:srgbClr val="111827"/>
          </a:solidFill>
          <a:ln w="3810">
            <a:solidFill>
              <a:srgbClr val="BF5AF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2999232"/>
            <a:ext cx="1005840" cy="841248"/>
          </a:xfrm>
          <a:prstGeom prst="rect">
            <a:avLst/>
          </a:prstGeom>
          <a:solidFill>
            <a:srgbClr val="BF5AF2"/>
          </a:solidFill>
          <a:ln w="12700">
            <a:solidFill>
              <a:srgbClr val="BF5AF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99923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1417320" y="309067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Tracking Dashboard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43814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visual dashboard showing weekly workout progress, calorie tracking, fitness milestones and goal completion charts using IBM Analytics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46888" y="3977640"/>
            <a:ext cx="8650224" cy="896112"/>
          </a:xfrm>
          <a:prstGeom prst="rect">
            <a:avLst/>
          </a:prstGeom>
          <a:solidFill>
            <a:srgbClr val="FF6B35">
              <a:alpha val="15000"/>
            </a:srgbClr>
          </a:solidFill>
          <a:ln w="635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4005072"/>
            <a:ext cx="8595360" cy="841248"/>
          </a:xfrm>
          <a:prstGeom prst="rect">
            <a:avLst/>
          </a:prstGeom>
          <a:solidFill>
            <a:srgbClr val="111827"/>
          </a:solidFill>
          <a:ln w="3810">
            <a:solidFill>
              <a:srgbClr val="FF6B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4005072"/>
            <a:ext cx="1005840" cy="8412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05072"/>
            <a:ext cx="1005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80C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1417320" y="4096512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Nutrition Database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17320" y="4443984"/>
            <a:ext cx="7269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9B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Retrieval-Augmented Generation with verified nutrition databases (USDA, WHO) to provide evidence-based meal recommendations and dietary advice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F5A0"/>
          </a:solidFill>
          <a:ln w="12700">
            <a:solidFill>
              <a:srgbClr val="00F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FF375F"/>
          </a:solidFill>
          <a:ln w="12700">
            <a:solidFill>
              <a:srgbClr val="FF37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0" y="365760"/>
            <a:ext cx="2743200" cy="2743200"/>
          </a:xfrm>
          <a:prstGeom prst="ellipse">
            <a:avLst/>
          </a:prstGeom>
          <a:solidFill>
            <a:srgbClr val="0A1A0A"/>
          </a:solidFill>
          <a:ln w="6350">
            <a:solidFill>
              <a:srgbClr val="00F5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640080"/>
            <a:ext cx="2194560" cy="2194560"/>
          </a:xfrm>
          <a:prstGeom prst="ellipse">
            <a:avLst/>
          </a:prstGeom>
          <a:solidFill>
            <a:srgbClr val="060F06"/>
          </a:solidFill>
          <a:ln w="3810">
            <a:solidFill>
              <a:srgbClr val="00F5A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868680"/>
            <a:ext cx="1554480" cy="1554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8716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Buddy — AI Fitness Coach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286000" y="3794760"/>
            <a:ext cx="4572000" cy="0"/>
          </a:xfrm>
          <a:prstGeom prst="line">
            <a:avLst/>
          </a:prstGeom>
          <a:noFill/>
          <a:ln w="12700">
            <a:solidFill>
              <a:srgbClr val="FF37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38862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F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Janardan Kaki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57200" y="4251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Edunet Foundation IBM Internship  |  Problem Statement #13</a:t>
            </a:r>
            <a:endParaRPr lang="en-US" sz="11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455371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453542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github.com/janardankaki1125/Fitness-Buddy-/tree/main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1022</Words>
  <Application>Microsoft Office PowerPoint</Application>
  <PresentationFormat>On-screen Show (16:9)</PresentationFormat>
  <Paragraphs>193</Paragraphs>
  <Slides>14</Slides>
  <Notes>14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Admin</cp:lastModifiedBy>
  <cp:revision>2</cp:revision>
  <dcterms:created xsi:type="dcterms:W3CDTF">2026-06-07T15:16:15Z</dcterms:created>
  <dcterms:modified xsi:type="dcterms:W3CDTF">2026-06-07T15:30:33Z</dcterms:modified>
</cp:coreProperties>
</file>